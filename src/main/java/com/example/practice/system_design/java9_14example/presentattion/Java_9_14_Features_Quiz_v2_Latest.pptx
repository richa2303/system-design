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9" r:id="rId12"/>
    <p:sldId id="265" r:id="rId13"/>
    <p:sldId id="270" r:id="rId14"/>
    <p:sldId id="266" r:id="rId15"/>
    <p:sldId id="271" r:id="rId16"/>
    <p:sldId id="267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5" r:id="rId27"/>
    <p:sldId id="281" r:id="rId28"/>
    <p:sldId id="286" r:id="rId29"/>
    <p:sldId id="282" r:id="rId30"/>
    <p:sldId id="287" r:id="rId31"/>
    <p:sldId id="283" r:id="rId32"/>
    <p:sldId id="288" r:id="rId33"/>
    <p:sldId id="284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302" r:id="rId44"/>
    <p:sldId id="298" r:id="rId45"/>
    <p:sldId id="303" r:id="rId46"/>
    <p:sldId id="299" r:id="rId47"/>
    <p:sldId id="304" r:id="rId48"/>
    <p:sldId id="300" r:id="rId49"/>
    <p:sldId id="305" r:id="rId50"/>
    <p:sldId id="301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9" r:id="rId61"/>
    <p:sldId id="315" r:id="rId62"/>
    <p:sldId id="320" r:id="rId63"/>
    <p:sldId id="316" r:id="rId64"/>
    <p:sldId id="321" r:id="rId65"/>
    <p:sldId id="317" r:id="rId66"/>
    <p:sldId id="322" r:id="rId67"/>
    <p:sldId id="318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6" r:id="rId78"/>
    <p:sldId id="332" r:id="rId79"/>
    <p:sldId id="337" r:id="rId80"/>
    <p:sldId id="333" r:id="rId81"/>
    <p:sldId id="338" r:id="rId82"/>
    <p:sldId id="334" r:id="rId83"/>
    <p:sldId id="339" r:id="rId84"/>
    <p:sldId id="335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53" r:id="rId95"/>
    <p:sldId id="349" r:id="rId96"/>
    <p:sldId id="354" r:id="rId97"/>
    <p:sldId id="350" r:id="rId98"/>
    <p:sldId id="355" r:id="rId99"/>
    <p:sldId id="351" r:id="rId100"/>
    <p:sldId id="356" r:id="rId101"/>
    <p:sldId id="352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70" r:id="rId112"/>
    <p:sldId id="366" r:id="rId113"/>
    <p:sldId id="371" r:id="rId114"/>
    <p:sldId id="367" r:id="rId115"/>
    <p:sldId id="372" r:id="rId116"/>
    <p:sldId id="368" r:id="rId117"/>
    <p:sldId id="373" r:id="rId118"/>
    <p:sldId id="369" r:id="rId119"/>
    <p:sldId id="374" r:id="rId120"/>
    <p:sldId id="375" r:id="rId121"/>
    <p:sldId id="376" r:id="rId1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E967A8-1D6C-4118-8577-416BB3CC3A21}" v="30" dt="2026-05-25T18:35:03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128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DD469-4EE3-496E-B7E9-AF3F4B7252E0}" type="datetimeFigureOut">
              <a:t>5/25/2026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899DB-F73A-42A6-AB1A-8A217464AD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49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5040" y="4572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>
                <a:solidFill>
                  <a:srgbClr val="000000"/>
                </a:solidFill>
              </a:rPr>
              <a:t>☕</a:t>
            </a:r>
            <a:endParaRPr lang="en-US" sz="9600"/>
          </a:p>
        </p:txBody>
      </p:sp>
      <p:sp>
        <p:nvSpPr>
          <p:cNvPr id="4" name="Text 2"/>
          <p:cNvSpPr/>
          <p:nvPr/>
        </p:nvSpPr>
        <p:spPr>
          <a:xfrm>
            <a:off x="6035040" y="283464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9–14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6035040" y="32461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&amp; Quiz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9–14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3035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4600"/>
          </a:p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Quiz</a:t>
            </a:r>
            <a:endParaRPr lang="en-US" sz="460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Introduced  ·  DOs  ·  DON'Ts  ·  Examples  ·  Quiz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02920" y="3547872"/>
            <a:ext cx="1143000" cy="2743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764792" y="3547872"/>
            <a:ext cx="1143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64792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026664" y="3547872"/>
            <a:ext cx="11430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288536" y="3547872"/>
            <a:ext cx="114300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35478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114300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1764792" y="3931920"/>
            <a:ext cx="1143000" cy="2743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792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026664" y="3931920"/>
            <a:ext cx="1143000" cy="2743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6664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>
                <a:solidFill>
                  <a:srgbClr val="000000"/>
                </a:solidFill>
              </a:rPr>
              <a:t>🔤</a:t>
            </a:r>
            <a:endParaRPr lang="en-US" sz="1200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forced writing the full generic type twice on every variable. A HashMap required repeating HashMap&lt;String, List&lt;Integer&gt;&gt; on both sides. Inspired by Kotlin &amp; Scala, Java 10 introduced var to cut boilerplate while keeping compile-time safety.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Verbosity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generics like HashMap&lt;String,List&lt;Integer&gt;&gt; were repeated twice — pure noise.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friction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adopted Kotlin/Scala partly for cleaner local variable syntax.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cost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inferred at compile time — NOT dynamic typing. Zero performance impact.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ceremony; the reader focuses on the logic, not the type declaration.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clear initializers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is obvious from the right-hand side.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List.of("a","b","c");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for-each loops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repeating the full Map.Entry&lt;K,V&gt; type.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entry : map.entrySet()) { }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try-with-resources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resource declarations concise.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conn = ds.getConnection())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 complex generics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repeated generic noise cleanly.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 = new HashMap&lt;String,List&lt;Integer&gt;&gt;();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initializer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needs something to infer from.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x;   // ❌ won't compile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null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has no type — compiler can't infer.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null;   // ❌ can't infer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or parameters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strictly for local variables only.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var name = "x";   // ❌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return types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return type isn't obvious, spell it out.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compute();   // unclear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10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HashMap&lt;String, List&lt;Integer&gt;&gt; map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HashMap&lt;String, List&lt;Integer&gt;&gt;();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(Map.Entry&lt;String,Integer&gt; entry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map.entrySet())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key  = entry.getKey();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Integer val = entry.getValue();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6366F1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10 — var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map = new HashMap&lt;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String, List&lt;Integer&gt;&gt;();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entry : map.entrySet())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key = entry.getKey();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val = entry.getValue();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(var conn = ds.getConnection();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var stmt = conn.prepareStatement(sql))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rs = stmt.executeQuery();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 valid use of var?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All three are valid    B) Only var x = 10 is valid    C) var cannot be used with generics    D) var is only valid in static methods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var actually change about Java's type system?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Makes Java dynamically typed like JavaScript    B) The compiler infers the type at compile time — still statically typed    C) The type is checked at runtime only    D) Allows variables to change type later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ILLEGAL?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Only var b = null    B) Only var c    C) Both var b = null AND var c    D) All four are illegal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var NOT be used?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Inside a for-each loop    B) As a class field    C) In a try-with-resources block    D) As a local variable in a method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inferred type of 'result'?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Map&lt;Object,Object&gt;    B) Map&lt;String,List&lt;Integer&gt;&gt;    C) Map&lt;String,Object&gt;    D) HashMap&lt;String,List&lt;Integer&gt;&gt;</a:t>
            </a:r>
            <a:endParaRPr lang="en-US"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of the following is a valid use of var?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78638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10;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 = "Alice";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new ArrayList&lt;&gt;();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61518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61518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61518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valid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61518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61518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61518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65176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 x = 10 is valid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21868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21868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21868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2552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cannot be used with generics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21868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21868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21868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25526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only valid in static methods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931920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3192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of the following is a valid use of var?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74066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x = 10;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 = "Alice";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list = new ArrayList&lt;&gt;();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5146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5146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5146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5511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All three are valid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5146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5146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5146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5511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Only var x = 10 is valid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11810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11810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11810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3154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var cannot be used with generics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11810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11810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11810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315468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var is only valid in static methods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813048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813048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813048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A  —  All three are valid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4215384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215384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25196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434840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works for any local variable with a clear initializer — primitives, strings, and generic collections are all valid.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does var actually change about Java's type system?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Java dynamically typed like JavaScript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the type at compile time — still statically typed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type is checked at runtime only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variables to change type later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does var actually change about Java's type system?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Makes Java dynamically typed like JavaScript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compiler infers the type at compile time — still statically typed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type is checked at runtime only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Allows variables to change type later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The compiler infers the type at compile time — still statically typed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compile-time type inference. The bytecode is identical to writing the explicit type.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of these is ILLEGAL?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42;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null;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 = List.of(1,2,3);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 b = null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 c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 b = null AND var c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illegal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13308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3308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Which of these is ILLEGAL?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 = 42;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null;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d = List.of(1,2,3);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Only var b = null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Only var c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Both var b = null AND var c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All four are illegal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005072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005072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005072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Both var b = null AND var c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4407408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407408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4439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626864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b = null fails — null has no type. var c fails — no initializer. The other two are fine.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Where can var NOT be used?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for-each loop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class field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try-with-resources block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local variable in a method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Where can var NOT be used?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Inside a for-each loop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As a class field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In a try-with-resources block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As a local variable in a method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As a class field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strictly for local variables inside method bodies. Class fields and method parameters must have explicit types.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the inferred type of 'result'?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Map.of("a",List.of(1,2),"b",List.of(3,4));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Map&lt;Object,Object&gt;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Map&lt;String,List&lt;Integer&gt;&gt;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Map&lt;String,Object&gt;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HashMap&lt;String,List&lt;Integer&gt;&gt;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the inferred type of 'result'?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Map.of("a",List.of(1,2),"b",List.of(3,4));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Map&lt;Object,Object&gt;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Map&lt;String,List&lt;Integer&gt;&gt;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Map&lt;String,Object&gt;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HashMap&lt;String,List&lt;Integer&gt;&gt;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Map&lt;String,List&lt;Integer&gt;&gt;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Map&lt;String,List&lt;Integer&gt;&gt; from the literals provided to Map.of().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🔤  var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Variable Type Inference — reduces verbosity, keeps compile-time type safety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is a valid use of var?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valid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works for any local variable with a clear initializer — primitives, strings, and generic collections are all valid.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var actually change about Java's type system?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the type at compile time — still statically typed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compile-time type inference. The bytecode is identical to writing the explicit type.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ILLEGAL?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 b = null AND var c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b = null fails — null has no type. var c fails — no initializer. The other two are fine.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var NOT be used?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class field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is strictly for local variables inside method bodies. Class fields and method parameters must have explicit types.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inferred type of 'result'?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Map&lt;String,List&lt;Integer&gt;&gt;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infers Map&lt;String,List&lt;Integer&gt;&gt; from the literals provided to Map.of().</a:t>
            </a:r>
            <a:endParaRPr lang="en-US" sz="8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42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>
                <a:solidFill>
                  <a:srgbClr val="000000"/>
                </a:solidFill>
              </a:rPr>
              <a:t>📅</a:t>
            </a:r>
            <a:endParaRPr lang="en-US" sz="1200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java.util.Date and Calendar were mutable, not thread-safe, and poorly designed (months 0-indexed, years offset by 1900). Java 8 fixed this with java.time. Java 9 added datesUntil(); Java 11 added toEpochSecond() on LocalDate.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Mutability bugs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is mutable — passing it to a method could silently change it causing production bugs.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safety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was not thread-safe, forcing defensive copies in concurrent code.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API design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0-indexed, years offset by 1900 — the most infamous Java API design mistake.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utilities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added datesUntil() for date ranges; Java 11 added toEpochSecond() on LocalDate.</a:t>
            </a:r>
            <a:endParaRPr lang="en-US" sz="9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LocalDate / LocalDateTime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— always prefer over java.util.Date.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LocalDate.now();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DateTimeFormatter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Thread-safe; declare as static final for reuse.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LocalDate.parse("2024-01-15", FMT);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Duration / Period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for date-based, Duration for time-based math.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Duration.between(start, end).toMinutes()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ZonedDateTime for timezones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timezone math manually.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ZonedDateTime.now(ZoneId.of("Asia/Kolkata"))</a:t>
            </a:r>
            <a:endParaRPr lang="en-U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new Date() or Calendar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legacy APIs are thread-unsafe with bad design.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Date()  // mutable, thread-unsafe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SimpleDateFormat in threads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thread-safe — use DateTimeFormatter instead.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SimpleDateFormat(...)  // ❌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timezone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 has no timezone — use ZonedDateTime.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LocalDateTime.now()  // ❌ no zone info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old and new APIs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API and stay consistent throughout.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date.toInstant().atZone(...)  // confusing</a:t>
            </a:r>
            <a:endParaRPr lang="en-US"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java.util.Date — messy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d = new Date();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 cal = Calendar.getInstance();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cal.setTime(d);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cal.add(Calendar.DAY_OF_MONTH, 30);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0-indexed months trap!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cal.set(2024, 0, 15); // January = 0 !!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SimpleDateFormat sdf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SimpleDateFormat("yyyy-MM-dd"); // not thread-safe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0D9488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9+ — clean and safe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today = LocalDate.now();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future = today.plusDays(30);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Stream a range (Java 9)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today.datesUntil(today.plusWeeks(1))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.forEach(System.out::println);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Epoch seconds (Java 11)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epoch = LocalDate.of(2024,1,15)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.toEpochSecond(LocalTime.MIDNIGHT,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ZoneOffset.UTC);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Thread-safe formatter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DateTimeFormatter FMT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DateTimeFormatter.ofPattern("dd-MM-yyyy");</a:t>
            </a:r>
            <a:endParaRPr lang="en-US" sz="9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replaced java.util.Date for date-only values?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LocalDateTime    B) LocalDate    C) ZonedDate    D) DateOnly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SimpleDateFormat dangerous in multi-threaded code?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It is deprecated in Java 11    B) It is not thread-safe — shared instances cause data corruption    C) It only supports US date formats    D) It cannot parse ISO-8601 dates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Java 9 method return?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The number of days between the two dates    B) A Stream&lt;LocalDate&gt; for each day in the range    C) Throws an exception — invalid API    D) Formats the range as a string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for a duration of 2 hours 30 minutes?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Period    B) Duration    C) TimeSpan    D) ChronoUnit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printed?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2025-04-31    B) 2025-04-30    C) Exception: invalid date    D) 2025-05-01</a:t>
            </a:r>
            <a:endParaRPr lang="en-US" sz="8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class replaced java.util.Date for date-only values?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LocalDateTime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ZonedDate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DateOnly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class replaced java.util.Date for date-only values?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LocalDateTime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LocalDate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ZonedDate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DateOnly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LocalDate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 represents a date without time or timezone. Use LocalDateTime for date+time, ZonedDateTime when timezone matters.</a:t>
            </a:r>
            <a:endParaRPr lang="en-US" sz="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is SimpleDateFormat dangerous in multi-threaded code?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deprecated in Java 11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thread-safe — shared instances cause data corruption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supports US date formats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parse ISO-8601 dates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is SimpleDateFormat dangerous in multi-threaded code?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 is deprecated in Java 11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is not thread-safe — shared instances cause data corruption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only supports US date formats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cannot parse ISO-8601 dates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It is not thread-safe — shared instances cause data corruption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SimpleDateFormat stores mutable state. Sharing one instance across threads causes incorrect results. Use DateTimeFormatter — it is immutable and thread-safe.</a:t>
            </a:r>
            <a:endParaRPr lang="en-US" sz="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this Java 9 method return?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LocalDate.of(2025,1,1).datesUntil(LocalDate.of(2025,1,6))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days between the two dates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Stream&lt;LocalDate&gt; for each day in the range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an exception — invalid API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the range as a string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this Java 9 method return?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LocalDate.of(2025,1,1).datesUntil(LocalDate.of(2025,1,6))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number of days between the two dates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Stream&lt;LocalDate&gt; for each day in the range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Throws an exception — invalid API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Formats the range as a string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 Stream&lt;LocalDate&gt; for each day in the range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datesUntil() returns a sequential Stream&lt;LocalDate&gt; of all dates from start (inclusive) to end (exclusive).</a:t>
            </a:r>
            <a:endParaRPr lang="en-US" sz="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class for a duration of 2 hours 30 minutes?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TimeSpan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ChronoUnit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class for a duration of 2 hours 30 minutes?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Period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Duration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TimeSpan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ChronoUnit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Duration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is for time-based amounts (hours/minutes/seconds). Period is for date-based amounts (years/months/days).</a:t>
            </a:r>
            <a:endParaRPr lang="en-US" sz="9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printed?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85216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LocalDate.of(2025, 3, 31);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System.out.println(d.plusMonths(1));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41401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41401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41401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4505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2025-04-31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41401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41401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41401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4505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2025-04-30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01752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01752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0175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0540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invalid date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01752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01752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0175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0540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2025-05-01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730752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73075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printed?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LocalDate d = LocalDate.of(2025, 3, 31);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System.out.println(d.plusMonths(1));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2025-04-31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2025-04-30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92608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2608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2608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29626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Exception: invalid date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92608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2608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2608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296265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2025-05-01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62102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62102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62102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2025-04-30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402336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02336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5993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24281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has only 30 days. Java adjusts to the last valid day — 31 March + 1 month = 30 April (month-end clamping).</a:t>
            </a:r>
            <a:endParaRPr lang="en-US" sz="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42F2E"/>
          </a:solidFill>
          <a:ln w="12700">
            <a:solidFill>
              <a:srgbClr val="042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📅  DateTime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/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thread-safe date/time — replacing java.util.Date and Calendar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replaced java.util.Date for date-only values?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 represents a date without time or timezone. Use LocalDateTime for date+time, ZonedDateTime when timezone matters.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SimpleDateFormat dangerous in multi-threaded code?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thread-safe — shared instances cause data corruption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SimpleDateFormat stores mutable state. Sharing one instance across threads causes incorrect results. Use DateTimeFormatter — it is immutable and thread-safe.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Java 9 method return?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Stream&lt;LocalDate&gt; for each day in the range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datesUntil() returns a sequential Stream&lt;LocalDate&gt; of all dates from start (inclusive) to end (exclusive).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class for a duration of 2 hours 30 minutes?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is for time-based amounts (hours/minutes/seconds). Period is for date-based amounts (years/months/days).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printed?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2025-04-30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has only 30 days. Java adjusts to the last valid day — 31 March + 1 month = 30 April (month-end clamping).</a:t>
            </a:r>
            <a:endParaRPr lang="en-US" sz="85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C1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>
                <a:solidFill>
                  <a:srgbClr val="000000"/>
                </a:solidFill>
              </a:rPr>
              <a:t>🔡</a:t>
            </a:r>
            <a:endParaRPr lang="en-US" sz="1200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added Apache Commons just for isBlank(). trim() silently failed on Unicode whitespace. Embedding JSON/SQL/HTML needed escape sequences on every line. Java 11 standardised the missing methods; Java 13 added text blocks.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bloat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StringUtils.isBlank() from Apache Commons was everywhere — should be in the JDK.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was broken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only removes ASCII &lt;= U+0020 — fails silently on Unicode whitespace.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string pain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10-line SQL queries needed escaping every quote and + concatenation per line.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convenience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lines() gives a lazy Stream&lt;String&gt;; repeat() replaces verbose loop patterns.</a:t>
            </a:r>
            <a:endParaRPr lang="en-US" sz="9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strip() not trim()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is Unicode-aware — correct for all string content.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hello  ".strip()  // Unicode-safe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isBlank() for whitespace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returns false for whitespace-only strings.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".isBlank()  // true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text blocks for multi-line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escaping needed — use for JSON, SQL, HTML, XML.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"""SELECT * FROM u""";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lines() for streaming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\n, \r, \r\n correctly as a lazy stream.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text.lines().filter(l -&gt; !l.isBlank())</a:t>
            </a:r>
            <a:endParaRPr 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trim() for Unicode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fails silently on non-ASCII whitespace.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"\u2003hi".trim()  // ❌ misses em-space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isEmpty() for blank checks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make it non-empty but blank — use isBlank().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".isEmpty()  // false — wrong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multi-line with +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and unreadable — use a text block instead.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"&lt;html&gt;\n" + "body";  // ❌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closing triple-quote indent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""" on its own line controls indentation stripping.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"""hello""";  // ❌</a:t>
            </a:r>
            <a:endParaRPr lang="en-US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11/13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 == null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input.trim().isEmpty()) { }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"{\n" +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 \"name\": \"Alice\",\n" +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  \"age\": 30\n" +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"}";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sep = "";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i&lt;40; i++) sep += "-";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97706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11/13 — clean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(input == null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|| input.isBlank()) { }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Text block (Java 13)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json = """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"name": "Alice",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"age": 30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sep = "-".repeat(40);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 n = text.lines()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.filter(l -&gt; !l.isBlank())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.count();</a:t>
            </a:r>
            <a:endParaRPr lang="en-US" sz="95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isBlank() return for "   " (three spaces)?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false — same as isEmpty()    B) true — all whitespace counts as blank    C) Depends on the locale    D) Throws NullPointerException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should replace trim() in all new code?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clean()    B) strip()    C) normalize()    D) trimAll()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lines() return?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String[]    B) List&lt;String&gt;    C) Stream&lt;String&gt;    D) Iterator&lt;String&gt;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ha ha ha !    B) hahaha!    C) ha!ha!ha!    D) Compile error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text block, how is leading indentation stripped?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All leading whitespace always removed    B) Relative to the least-indented line    C) The closing triple-quote position controls stripping    D) Nothing is stripped — preserved exactly</a:t>
            </a:r>
            <a:endParaRPr lang="en-US" sz="8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isBlank() return for "   " (three spaces)?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— same as isEmpty()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all whitespace counts as blank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locale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NullPointerException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isBlank() return for "   " (three spaces)?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false — same as isEmpty()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true — all whitespace counts as blank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Depends on the locale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Throws NullPointerException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true — all whitespace counts as blank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isBlank() added in Java 11 returns true for empty AND whitespace-only strings. isEmpty() returns false for "   ".</a:t>
            </a:r>
            <a:endParaRPr lang="en-US" sz="9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method should replace trim() in all new code?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clean()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normalize()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trimAll()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method should replace trim() in all new code?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clean()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strip()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normalize()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trimAll()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strip()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uses Unicode character definitions — correctly removes all Unicode whitespace. trim() only removes ASCII &lt;= U+0020.</a:t>
            </a:r>
            <a:endParaRPr lang="en-US" sz="9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lines() return?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"line1\nline2\n\nline3".lines()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String[]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List&lt;String&gt;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Stream&lt;String&gt;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Iterator&lt;String&gt;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does lines() return?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"line1\nline2\n\nline3".lines()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String[]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List&lt;String&gt;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Stream&lt;String&gt;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Iterator&lt;String&gt;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Stream&lt;String&gt;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lines() added in Java 11 returns a lazy Stream&lt;String&gt; split on \n, \r, or \r\n.</a:t>
            </a:r>
            <a:endParaRPr lang="en-US" sz="9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System.out.println("ha".repeat(3) + "!");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ha ha !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hahaha!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ha!ha!ha!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System.out.println("ha".repeat(3) + "!");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ha ha ha !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hahaha!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ha!ha!ha!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Compile error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hahaha!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repeat(n) duplicates the string n times with no separator. "ha".repeat(3) = "hahaha", then + "!" = "hahaha!".</a:t>
            </a:r>
            <a:endParaRPr lang="en-US" sz="9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In a text block, how is leading indentation stripped?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leading whitespace always removed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to the least-indented line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triple-quote position controls stripping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stripped — preserved exactly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In a text block, how is leading indentation stripped?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All leading whitespace always removed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Relative to the least-indented line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closing triple-quote position controls stripping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Nothing is stripped — preserved exactly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The closing triple-quote position controls stripping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of the closing triple-quote determines how many spaces are stripped from every line.</a:t>
            </a:r>
            <a:endParaRPr lang="en-US" sz="9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C1400"/>
          </a:solidFill>
          <a:ln w="12700">
            <a:solidFill>
              <a:srgbClr val="1C1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🔡  String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/ 13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String methods (strip, isBlank, lines, repeat) and text blocks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isBlank() return for "   " (three spaces)?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— all whitespace counts as blank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isBlank() added in Java 11 returns true for empty AND whitespace-only strings. isEmpty() returns false for "   ".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should replace trim() in all new code?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uses Unicode character definitions — correctly removes all Unicode whitespace. trim() only removes ASCII &lt;= U+0020.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lines() return?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Stream&lt;String&gt;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lines() added in Java 11 returns a lazy Stream&lt;String&gt; split on \n, \r, or \r\n.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hahaha!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repeat(n) duplicates the string n times with no separator. "ha".repeat(3) = "hahaha", then + "!" = "hahaha!".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text block, how is leading indentation stripped?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closing triple-quote position controls stripping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of the closing triple-quote determines how many spaces are stripped from every line.</a:t>
            </a:r>
            <a:endParaRPr lang="en-US" sz="85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>
                <a:solidFill>
                  <a:srgbClr val="000000"/>
                </a:solidFill>
              </a:rPr>
              <a:t>🌐</a:t>
            </a:r>
            <a:endParaRPr lang="en-US" sz="1200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HttpURLConnection (Java 1.1, 1997) had no async, no HTTP/2, needed 25+ lines for a basic GET. Every project used OkHttp or Apache HttpClient instead. Java 11 ships a modern built-in replacement in java.net.http.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async support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HttpURLConnection was sync-only — blocked the calling thread for every request.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HTTP/2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HTTP/2 multiplexing (multiple requests on one TCP connection) was completely unsupported.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Terrible API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GET needed 25+ lines: URL, cast, set method, read stream, close — very painful.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dependency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added OkHttp/Apache HttpClient just for basic HTTP — JDK should handle this natively.</a:t>
            </a:r>
            <a:endParaRPr lang="en-US" sz="95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HttpClient instances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manages a connection pool — one instance per app.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HttpClient C = HttpClient.newHttpClient();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timeout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timeout, a slow server blocks your thread forever.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.connectTimeout(Duration.ofSeconds(10))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sendAsync for non-blocking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keeps threads free for I/O-heavy scenarios.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client.sendAsync(req, BodyHandlers.ofString())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exceptions explicitly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chains silently swallow exceptions without this.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.exceptionally(ex -&gt; { log(ex); return null; })</a:t>
            </a:r>
            <a:endParaRPr lang="en-US" sz="10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HttpURLConnection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Sync-only, no HTTP/2, 25+ lines — fully superseded.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url = new URL(...); url.openConnection();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client per request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thread pool + connection pool each time.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HttpClient() per call  // ❌ wasteful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timeout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has no timeout — network hang = thread hung.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HttpClient.newHttpClient()  // ❌ no timeout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async with .get()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get() blocks the current thread — no async benefit.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.sendAsync(...).get()  // ❌ defeats async</a:t>
            </a:r>
            <a:endParaRPr lang="en-US" sz="10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HttpURLConnection — 20+ lines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url = new URL("https://api.example.com");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HttpURLConnection conn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(HttpURLConnection) url.openConnection();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conn.setRequestMethod("GET");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conn.setRequestProperty("Accept","application/json");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conn.setConnectTimeout(10000);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BufferedReader br = new BufferedReader(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InputStreamReader(conn.getInputStream()));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StringBuilder sb = new StringBuilder();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line;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while((line=br.readLine())!=null) sb.append(line);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br.close();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3B82F6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11 — HttpClient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final HttpClient CLIENT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HttpClient.newBuilder()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.connectTimeout(Duration.ofSeconds(10))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 = HttpRequest.newBuilder()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.uri(URI.create("https://api.example.com"))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.header("Accept","application/json")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 = CLIENT.send(req, BodyHandlers.ofString());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System.out.println(res.statusCode()); // 200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Async — non-blocking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CLIENT.sendAsync(req, BodyHandlers.ofString())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.thenApply(HttpResponse::body)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.thenAccept(System.out::println)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.exceptionally(ex -&gt; { log(ex); return null; });</a:t>
            </a:r>
            <a:endParaRPr lang="en-US" sz="95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standardised the new HttpClient API?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Java 9    B) Java 10    C) Java 11    D) Java 14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HttpClient instances be reused?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Each instance supports only one request    B) Each instance creates its own thread pool and connection pool    C) HttpClient is not thread-safe    D) HttpClient instances expire after 60 seconds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way to send an async GET request?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client.get(req, BodyHandlers.ofString())    B) client.sendAsync(req, BodyHandlers.ofString())    C) client.executeAsync(req)    D) client.fetch(req, ResponseType.STRING)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BodyPublisher sends a JSON string in a POST request?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BodyPublishers.ofJson(json)    B) BodyPublishers.ofString(json)    C) BodyPublishers.ofBytes(json)    D) BodyPublishers.fromString(json)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call .get() on the CompletableFuture from sendAsync()?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Nothing — get() is a no-op    B) It cancels the request    C) It blocks the calling thread until the response arrives    D) It throws UnsupportedOperationException</a:t>
            </a:r>
            <a:endParaRPr lang="en-US" sz="85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Java version standardised the new HttpClient API?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Which Java version standardised the new HttpClient API?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Java 9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Java 10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Java 11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Java 14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Java 11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(java.net.http) was incubated in Java 9 and standardised as JEP 321 in Java 11.</a:t>
            </a:r>
            <a:endParaRPr lang="en-US" sz="9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should HttpClient instances be reused?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supports only one request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creates its own thread pool and connection pool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is not thread-safe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instances expire after 60 seconds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Why should HttpClient instances be reused?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Each instance supports only one request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Each instance creates its own thread pool and connection pool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HttpClient is not thread-safe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HttpClient instances expire after 60 seconds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Each instance creates its own thread pool and connection pool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HttpClient creates its own thread pool and connection pool. Creating one per request wastes resources.</a:t>
            </a:r>
            <a:endParaRPr lang="en-US" sz="9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correct way to send an async GET request?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 client = HttpClient.newHttpClient();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 = HttpRequest.newBuilder()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.uri(URI.create("https://api.example.com"))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client.get(req, BodyHandlers.ofString())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client.sendAsync(req, BodyHandlers.ofString())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client.executeAsync(req)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client.fetch(req, ResponseType.STRING)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13308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3308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correct way to send an async GET request?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HttpClient client = HttpClient.newHttpClient();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HttpRequest req = HttpRequest.newBuilder()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.uri(URI.create("https://api.example.com"))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.GET().build();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client.get(req, BodyHandlers.ofString())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706624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client.sendAsync(req, BodyHandlers.ofString())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client.executeAsync(req)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client.fetch(req, ResponseType.STRING)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005072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005072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005072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client.sendAsync(req, BodyHandlers.ofString())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4407408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407408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4439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626864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sendAsync() returns CompletableFuture&lt;HttpResponse&lt;T&gt;&gt;. Chain .thenApply() and .exceptionally() for a non-blocking pipeline.</a:t>
            </a:r>
            <a:endParaRPr lang="en-US" sz="9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BodyPublisher sends a JSON string in a POST request?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BodyPublishers.ofJson(json)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BodyPublishers.ofBytes(json)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BodyPublishers.fromString(json)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Which BodyPublisher sends a JSON string in a POST request?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BodyPublishers.ofJson(json)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BodyPublishers.ofString(json)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BodyPublishers.ofBytes(json)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BodyPublishers.fromString(json)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BodyPublishers.ofString(json)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 is the correct method. Also set Content-Type: application/json header.</a:t>
            </a:r>
            <a:endParaRPr lang="en-US" sz="9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happens if you call .get() on the CompletableFuture from sendAsync()?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— get() is a no-op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cancels the request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the calling thread until the response arrives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throws UnsupportedOperationException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happens if you call .get() on the CompletableFuture from sendAsync()?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Nothing — get() is a no-op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cancels the request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blocks the calling thread until the response arrives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throws UnsupportedOperationException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It blocks the calling thread until the response arrives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.get() blocks the current thread — completely defeating the purpose of sendAsync(). Use .thenAccept() instead.</a:t>
            </a:r>
            <a:endParaRPr lang="en-US" sz="9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C1A2E"/>
          </a:solidFill>
          <a:ln w="12700">
            <a:solidFill>
              <a:srgbClr val="0C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🌐  HTTP Client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sync &amp; async HTTP with HTTP/2 — replaces HttpURLConnection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standardised the new HttpClient API?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HttpClient (java.net.http) was incubated in Java 9 and standardised as JEP 321 in Java 11.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HttpClient instances be reused?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instance creates its own thread pool and connection pool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HttpClient creates its own thread pool and connection pool. Creating one per request wastes resources.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correct way to send an async GET request?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client.sendAsync(req, BodyHandlers.ofString())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sendAsync() returns CompletableFuture&lt;HttpResponse&lt;T&gt;&gt;. Chain .thenApply() and .exceptionally() for a non-blocking pipeline.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BodyPublisher sends a JSON string in a POST request?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BodyPublishers.ofString(json) is the correct method. Also set Content-Type: application/json header.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you call .get() on the CompletableFuture from sendAsync()?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blocks the calling thread until the response arrives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.get() blocks the current thread — completely defeating the purpose of sendAsync(). Use .thenAccept() instead.</a:t>
            </a:r>
            <a:endParaRPr lang="en-US" sz="85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>
                <a:solidFill>
                  <a:srgbClr val="000000"/>
                </a:solidFill>
              </a:rPr>
              <a:t>🗂️</a:t>
            </a:r>
            <a:endParaRPr lang="en-US" sz="1200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16A34A">
              <a:alpha val="40000"/>
            </a:srgbClr>
          </a:solidFill>
          <a:ln w="12700">
            <a:solidFill>
              <a:srgbClr val="16A34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small read-only list took 5-10 lines: new ArrayList, add each element, then wrap in Collections.unmodifiableList(). Forgetting the last step left the collection accidentally mutable. Java 9 gives you one-liner collection literals.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boilerplate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3-item read-only list needed 5 lines: new ArrayList, three add() calls, unmodifiableList().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immutability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often forgot unmodifiableList() — the list was secretly mutable.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Arrays.asList() misleading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returned a fixed-size but partially mutable list — set() worked, add() threw.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ambiguity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factories throw NullPointerException immediately — making null bugs obvious at creation.</a:t>
            </a:r>
            <a:endParaRPr lang="en-US" sz="95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List.of() for fixed lists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Immutable, null-safe, compact — right default for any fixed list.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 = List.of("admin","user");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for small maps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cleanly for up to 10 key-value pairs.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Map.of("OK",200,"ERR",500)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Map.ofEntries() for larger maps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more than 10 entries — no arg limit.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Map.ofEntries(Map.entry("a",1),...)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List.copyOf() defensive copies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snapshot — protects from external mutation.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 = List.copyOf(incoming);</a:t>
            </a:r>
            <a:endParaRPr lang="en-US" sz="1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 a factory collection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collections are strictly immutable at runtime.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List.of("a").add("b");  // ❌ throws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null elements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ArrayList, factory collections reject null values.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List.of("a", null);  // ❌ NPE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Map.of() beyond 10 entries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only supports up to 10 key-value pairs.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Map.of(k1,v1,...,k11,v11)  // ❌ no overload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Set.of() ordering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Set.of() does not guarantee iteration order.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Set.of(1,2,3)  // ❌ order not guaranteed</a:t>
            </a:r>
            <a:endParaRPr lang="en-US" sz="10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9 — verbose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roles = new ArrayList&lt;&gt;();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roles.add("admin");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roles.add("user");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roles.add("viewer");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 = Collections.unmodifiableList(roles);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Easy to forget the wrap!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codes = new HashMap&lt;&gt;();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codes.put("OK", 200);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codes.put("NOT_FOUND", 404);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 = Collections.unmodifiableMap(codes);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6A34A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 — one liners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roles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List.of("admin","user","viewer");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codes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Map.of("OK",200,"NOT_FOUND",404);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methods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Set.of("GET","POST","PUT","DELETE");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More than 10 entries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Map&lt;String,Integer&gt; big = Map.ofEntries(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Map.entry("a",1), Map.entry("b",2));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10 — defensive copy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safe = List.copyOf(mutableList);</a:t>
            </a:r>
            <a:endParaRPr lang="en-US" sz="95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List.of("a","b","c").add("d") do at runtime?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Adds d to the list    B) Returns a new list with d added    C) Throws UnsupportedOperationException    D) Throws NullPointerException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pass null to List.of()?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The list stores null silently    B) A NullPointerException is thrown immediately    C) null is converted to empty string    D) Compile error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map with 12 entries. Which method do you use?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Map.of() — it supports unlimited entries    B) Map.ofEntries() with Map.entry() pairs    C) Map.create()    D) new ImmutableMap.Builder()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List.copyOf() do that List.of() does not?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Creates a mutable copy    B) Creates an immutable snapshot of an existing collection    C) Sorts the elements    D) Removes duplicates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guaranteed about Set.of("a","b","c")?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Iteration order matches insertion order    B) Elements stored in sorted order    C) Contains exactly these 3 elements but order is not guaranteed    D) Null elements are allowed</a:t>
            </a:r>
            <a:endParaRPr lang="en-US" sz="85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List.of("a","b","c").add("d") do at runtime?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d to the list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new list with d added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UnsupportedOperationException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NullPointerException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does List.of("a","b","c").add("d") do at runtime?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Adds d to the list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Returns a new list with d added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Throws UnsupportedOperationException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Throws NullPointerException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Throws UnsupportedOperationException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from List.of(), Set.of(), Map.of() are strictly immutable. Mutation throws UnsupportedOperationException.</a:t>
            </a:r>
            <a:endParaRPr lang="en-US" sz="9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happens when you pass null to List.of()?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stores null silently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NullPointerException is thrown immediately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is converted to empty string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happens when you pass null to List.of()?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list stores null silently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NullPointerException is thrown immediately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null is converted to empty string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Compile error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 NullPointerException is thrown immediately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collections do not permit null elements. NullPointerException is thrown at construction time.</a:t>
            </a:r>
            <a:endParaRPr lang="en-US" sz="9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You need a map with 12 entries. Which method do you use?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— it supports unlimited entries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Map.ofEntries() with Map.entry() pairs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Map.create()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ImmutableMap.Builder()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You need a map with 12 entries. Which method do you use?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Map.of() — it supports unlimited entries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Map.ofEntries() with Map.entry() pairs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Map.create()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new ImmutableMap.Builder()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Map.ofEntries() with Map.entry() pairs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only supports up to 10 pairs. For 11+, use Map.ofEntries(Map.entry(k,v), ...) which has no limit.</a:t>
            </a:r>
            <a:endParaRPr lang="en-US" sz="9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List.copyOf() do that List.of() does not?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mutable copy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immutable snapshot of an existing collection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elements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List.copyOf() do that List.of() does not?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Creates a mutable copy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Creates an immutable snapshot of an existing collection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Sorts the elements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Removes duplicates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Creates an immutable snapshot of an existing collection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List.copyOf() (Java 10) takes an existing collection and returns an immutable snapshot — used for defensive copies.</a:t>
            </a:r>
            <a:endParaRPr lang="en-US" sz="90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guaranteed about Set.of("a","b","c")?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order matches insertion order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stored in sorted order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exactly these 3 elements but order is not guaranteed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elements are allowed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is guaranteed about Set.of("a","b","c")?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Iteration order matches insertion order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Elements stored in sorted order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Contains exactly these 3 elements but order is not guaranteed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Null elements are allowed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Contains exactly these 3 elements but order is not guaranteed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Set.of() does not guarantee iteration order. You get exactly the elements passed, but never rely on their order.</a:t>
            </a:r>
            <a:endParaRPr lang="en-US" sz="9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🗂️  Collections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(JEP 269) / Java 10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collection factory methods in a single line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List.of("a","b","c").add("d") do at runtime?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UnsupportedOperationException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from List.of(), Set.of(), Map.of() are strictly immutable. Mutation throws UnsupportedOperationException.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pass null to List.of()?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NullPointerException is thrown immediately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collections do not permit null elements. NullPointerException is thrown at construction time.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a map with 12 entries. Which method do you use?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Map.ofEntries() with Map.entry() pairs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Map.of() only supports up to 10 pairs. For 11+, use Map.ofEntries(Map.entry(k,v), ...) which has no limit.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List.copyOf() do that List.of() does not?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immutable snapshot of an existing collection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List.copyOf() (Java 10) takes an existing collection and returns an immutable snapshot — used for defensive copies.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guaranteed about Set.of("a","b","c")?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exactly these 3 elements but order is not guaranteed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Set.of() does not guarantee iteration order. You get exactly the elements passed, but never rely on their order.</a:t>
            </a:r>
            <a:endParaRPr lang="en-US" sz="85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A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>
                <a:solidFill>
                  <a:srgbClr val="000000"/>
                </a:solidFill>
              </a:rPr>
              <a:t>⚙️</a:t>
            </a:r>
            <a:endParaRPr lang="en-US" sz="1200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9333EA">
              <a:alpha val="40000"/>
            </a:srgbClr>
          </a:solidFill>
          <a:ln w="12700">
            <a:solidFill>
              <a:srgbClr val="9333EA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AF5FF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8's CompletableFuture had no built-in timeout and no fallback on timeout. Developers had to manually schedule a ScheduledExecutorService to cancel futures. Thread.onSpinWait() was added for better busy-spin loop performance.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timeout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had no way to cancel a CompletableFuture after a time limit — required a separate scheduler.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fallback on timeout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clean way to return a default value when an async call exceeded a time limit.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Spin-loop inefficiency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busy-spin loops wasted CPU. onSpinWait() signals PAUSE instructions on x86 hardware.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333E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streams gap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API (JEP 266) provided standard Publisher/Subscriber interfaces for reactive interoperability.</a:t>
            </a:r>
            <a:endParaRPr lang="en-US" sz="95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orTimeout() on all futures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a timeout — futures can hang indefinitely.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future.orTimeout(5, TimeUnit.SECONDS)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completeOnTimeout() for fallbacks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fallback value instead of throwing TimeoutException.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future.completeOnTimeout("default",3,SECONDS)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exceptionally() always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pipelines silently swallow exceptions without this.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.exceptionally(ex -&gt; { log(ex); return fb; })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Thread.onSpinWait() in loops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to CPU to pause — reduces power vs empty loop.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(!ready) { Thread.onSpinWait(); }</a:t>
            </a:r>
            <a:endParaRPr lang="en-US" sz="10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future.get() without timeout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with no timeout blocks indefinitely if future stalls.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future.get();  // ❌ blocks forever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async chains with .join()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 in a reactive chain collapses async back to sync.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.sendAsync(...).join()  // ❌ defeats async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exceptionally() handler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any exception in the chain is silently lost.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future.thenApply(v -&gt; process(v));  // ❌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empty busy-spin loops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loop hammers the CPU — always use onSpinWait().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(!flag) {}  // ❌ wastes CPU</a:t>
            </a:r>
            <a:endParaRPr lang="en-US" sz="10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9 — manual timeout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f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CompletableFuture.supplyAsync(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-&gt; fetchUser(1), executor);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ScheduledExecutorService sched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Executors.newScheduledThreadPool(1);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sched.schedule(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() -&gt; f.completeExceptionally(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TimeoutException()),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5, SECONDS);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result = f.get(); // risky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9333EA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9 — built-in timeout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f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.supplyAsync(() -&gt; fetchUser(1))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.orTimeout(5, TimeUnit.SECONDS);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Fallback on timeout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CompletableFuture&lt;String&gt; safe =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CompletableFuture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.supplyAsync(() -&gt; fetchUser(1))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.completeOnTimeout("guest", 3, SECONDS)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.exceptionally(ex -&gt;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log(ex.getMessage());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"error";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 spin hint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(!dataReady)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Thread.onSpinWait(); // Java 9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Java 9 method cancels a CompletableFuture if it takes too long?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setTimeout()    B) orTimeout()    C) cancelAfter()    D) withTimeout()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orTimeout() and completeOnTimeout()?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No difference — they are aliases    B) orTimeout throws TimeoutException; completeOnTimeout returns a fallback value    C) orTimeout is async; completeOnTimeout is sync    D) completeOnTimeout only works with HTTP futures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Thread.onSpinWait() used for?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Pausing a thread for a fixed duration    B) Signalling the CPU to use a PAUSE instruction in a busy-spin loop    C) Yielding execution to another thread    D) Starting a virtual thread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thenCombine() do?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Runs when the first future completes    B) Runs when both futures complete, combining their results    C) Chains futures sequentially    D) Runs only if either future fails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CompletableFuture.allOf() return?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A list of all results    B) A CompletableFuture&lt;Void&gt; that completes when all complete    C) The result of the first future to complete    D) A CompletableFuture&lt;List&lt;Object&gt;&gt;</a:t>
            </a:r>
            <a:endParaRPr lang="en-US" sz="85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Java 9 method cancels a CompletableFuture if it takes too long?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setTimeout()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cancelAfter()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withTimeout()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Java 9 method cancels a CompletableFuture if it takes too long?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setTimeout()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orTimeout()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cancelAfter()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withTimeout()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orTimeout()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orTimeout(long, TimeUnit) added in Java 9 completes the future exceptionally with a TimeoutException if it does not finish in time.</a:t>
            </a:r>
            <a:endParaRPr lang="en-US" sz="90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Difference between orTimeout() and completeOnTimeout()?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difference — they are aliases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 throws TimeoutException; completeOnTimeout returns a fallback value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 is async; completeOnTimeout is sync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completeOnTimeout only works with HTTP futures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Difference between orTimeout() and completeOnTimeout()?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No difference — they are aliases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orTimeout throws TimeoutException; completeOnTimeout returns a fallback value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orTimeout is async; completeOnTimeout is sync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completeOnTimeout only works with HTTP futures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orTimeout throws TimeoutException; completeOnTimeout returns a fallback value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 fails with TimeoutException on timeout. completeOnTimeout(value,...) succeeds with a default value — safer when you have a usable fallback.</a:t>
            </a:r>
            <a:endParaRPr lang="en-US" sz="9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Thread.onSpinWait() used for?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a thread for a fixed duration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 the CPU to use a PAUSE instruction in a busy-spin loop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Yielding execution to another thread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virtual thread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Thread.onSpinWait() used for?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Pausing a thread for a fixed duration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Signalling the CPU to use a PAUSE instruction in a busy-spin loop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Yielding execution to another thread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Starting a virtual thread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Signalling the CPU to use a PAUSE instruction in a busy-spin loop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Thread.onSpinWait() added in Java 9 hints to the CPU that the thread is in a busy-spin loop. On x86 this emits a PAUSE instruction.</a:t>
            </a:r>
            <a:endParaRPr lang="en-US" sz="9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thenCombine() do?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nameFuture.thenCombine(scoreFuture, (name, score) -&gt; name + ": " + score)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the first future completes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377440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37744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41401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both futures complete, combining their results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futures sequentially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98094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98094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01752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either future fails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694176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694176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does thenCombine() do?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D8B4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nameFuture.thenCombine(scoreFuture, (name, score) -&gt; name + ": " + score)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27685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Runs when the first future completes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27685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276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313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Runs when both futures complete, combining their results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Chains futures sequentially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288036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288036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291693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Runs only if either future fails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357530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357530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530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Runs when both futures complete, combining their results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397764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1421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19709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thenCombine() waits for both futures to complete independently, then applies the BiFunction. Both run concurrently.</a:t>
            </a:r>
            <a:endParaRPr lang="en-US" sz="9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does CompletableFuture.allOf() return?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all results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CompletableFuture&lt;Void&gt; that completes when all complete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of the first future to complete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CompletableFuture&lt;List&lt;Object&gt;&gt;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What does CompletableFuture.allOf() return?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list of all results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CompletableFuture&lt;Void&gt; that completes when all complete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result of the first future to complete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CompletableFuture&lt;List&lt;Object&gt;&gt;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A CompletableFuture&lt;Void&gt; that completes when all complete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allOf() returns CompletableFuture&lt;Void&gt; — signals when all futures are done but does not collect results.</a:t>
            </a:r>
            <a:endParaRPr lang="en-US" sz="9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⚙️  Concurrency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 / 11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9333EA">
              <a:alpha val="12000"/>
            </a:srgbClr>
          </a:solidFill>
          <a:ln w="12700">
            <a:solidFill>
              <a:srgbClr val="9333EA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 timeouts, fallbacks, and CPU spin-loop hints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Java 9 method cancels a CompletableFuture if it takes too long?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orTimeout(long, TimeUnit) added in Java 9 completes the future exceptionally with a TimeoutException if it does not finish in time.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orTimeout() and completeOnTimeout()?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 throws TimeoutException; completeOnTimeout returns a fallback value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 fails with TimeoutException on timeout. completeOnTimeout(value,...) succeeds with a default value — safer when you have a usable fallback.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Thread.onSpinWait() used for?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Signalling the CPU to use a PAUSE instruction in a busy-spin loop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Thread.onSpinWait() added in Java 9 hints to the CPU that the thread is in a busy-spin loop. On x86 this emits a PAUSE instruction.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thenCombine() do?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when both futures complete, combining their results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thenCombine() waits for both futures to complete independently, then applies the BiFunction. Both run concurrently.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CompletableFuture.allOf() return?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CompletableFuture&lt;Void&gt; that completes when all complete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allOf() returns CompletableFuture&lt;Void&gt; — signals when all futures are done but does not collect results.</a:t>
            </a:r>
            <a:endParaRPr lang="en-US" sz="85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A1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>
                <a:solidFill>
                  <a:srgbClr val="000000"/>
                </a:solidFill>
              </a:rPr>
              <a:t>🔀</a:t>
            </a:r>
            <a:endParaRPr lang="en-US" sz="12000"/>
          </a:p>
        </p:txBody>
      </p:sp>
      <p:sp>
        <p:nvSpPr>
          <p:cNvPr id="3" name="Shape 1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0" y="33832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solidFill>
            <a:srgbClr val="D97706">
              <a:alpha val="40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4617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·  DOs  ·  DON'Ts  ·  Example  ·  Quiz (5Q)</a:t>
            </a:r>
            <a:endParaRPr lang="en-US" sz="100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INTRODUCED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498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91440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57200" y="15270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had two chronic problems since Java 1.0: (1) Fall-through by default — missing break is a silent bug. (2) Statement-only — couldn't assign a switch result directly. Java 12 previewed the fix; Java 14 standardised it.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256032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859536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Fall-through is error-prone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393192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falls to the next case if break is missing — a frequent silent production bug.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700016" y="2103120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9744" y="2212848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5303520" y="2221992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expression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837176" y="2633472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switch couldn't return a value — required a separate variable declared before the switch.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859536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Multi-case was noisy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393192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MON: case TUE: break — listing each case separately was verbose and error-prone.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700016" y="3456432"/>
            <a:ext cx="418795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9744" y="3566160"/>
            <a:ext cx="402336" cy="40233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303520" y="3575304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for block arms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4837176" y="398678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13 added yield to cleanly return a value from a multi-statement switch arm.</a:t>
            </a:r>
            <a:endParaRPr lang="en-US" sz="95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 —  DOs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form — no break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have no fall-through — self-contained and safe.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MON, FRI -&gt; "Work day";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result directly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return a value — assign it inline.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switch(status) { ... };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cases with commas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 sharing a result belong in one arm.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MON, WED, FRI -&gt; "Work day";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✔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yield for block arms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multiple statements, yield produces the value.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-&gt; { log(x); yield -1; }</a:t>
            </a:r>
            <a:endParaRPr lang="en-US" sz="10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AVOID  —  DON'Ts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243584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914400" y="13167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old colon form in new code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914400" y="16459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 form has fall-through — arrow syntax is always safer.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206240" y="1307592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1335024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A: result = 1; break;  // old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256032" y="2148840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148840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14400" y="22219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 default on switch expression</a:t>
            </a:r>
            <a:endParaRPr lang="en-US" sz="1150"/>
          </a:p>
        </p:txBody>
      </p:sp>
      <p:sp>
        <p:nvSpPr>
          <p:cNvPr id="21" name="Text 19"/>
          <p:cNvSpPr/>
          <p:nvPr/>
        </p:nvSpPr>
        <p:spPr>
          <a:xfrm>
            <a:off x="914400" y="25511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default, non-exhaustive switch expression is a compile error.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206240" y="2212848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240280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switch(s) { case A -&gt; 1; }  // ❌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256032" y="3054096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3054096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27" name="Text 25"/>
          <p:cNvSpPr/>
          <p:nvPr/>
        </p:nvSpPr>
        <p:spPr>
          <a:xfrm>
            <a:off x="914400" y="3127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return inside a switch arm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914400" y="345643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exits the method — use yield to produce the arm value.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4206240" y="3118104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15968" y="3145536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 -&gt; { return 5; }  // ❌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256032" y="3959352"/>
            <a:ext cx="8631936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959352"/>
            <a:ext cx="5486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✘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914400" y="4032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arrow and colon arms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914400" y="4361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mix arrow and colon in the same switch.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206240" y="4023360"/>
            <a:ext cx="4572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15968" y="4050792"/>
            <a:ext cx="4352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A -&gt; 1; case B: yield 2;  // ❌</a:t>
            </a:r>
            <a:endParaRPr lang="en-US" sz="100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  —  Before vs After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4169664" cy="3630168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43584"/>
            <a:ext cx="416966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BEFORE  (Old Way)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292608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2D1B1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Before Java 12 — fall-through trap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(month)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JANUARY: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MARCH:    days = 31; break;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FEBRUARY: days = 28; break;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      days = 30;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(status)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"NEW":    label = "Created"; break;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"ACTIVE": label = "Running"; break;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default:       label = "Unknown";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443984" y="28346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D97706"/>
                </a:solidFill>
              </a:rPr>
              <a:t>→</a:t>
            </a:r>
            <a:endParaRPr lang="en-US" sz="1800"/>
          </a:p>
        </p:txBody>
      </p:sp>
      <p:sp>
        <p:nvSpPr>
          <p:cNvPr id="16" name="Shape 14"/>
          <p:cNvSpPr/>
          <p:nvPr/>
        </p:nvSpPr>
        <p:spPr>
          <a:xfrm>
            <a:off x="4718304" y="1243584"/>
            <a:ext cx="4169664" cy="3630168"/>
          </a:xfrm>
          <a:prstGeom prst="rect">
            <a:avLst/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18304" y="1243584"/>
            <a:ext cx="416966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243584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AFTER  (Modern Java)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54880" y="1609344"/>
            <a:ext cx="4096512" cy="3209544"/>
          </a:xfrm>
          <a:prstGeom prst="rect">
            <a:avLst/>
          </a:prstGeom>
          <a:solidFill>
            <a:srgbClr val="0D1B2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1682496"/>
            <a:ext cx="3913632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 12-14 — switch expression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 = switch (month)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JANUARY, MARCH  -&gt; 31;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FEBRUARY        -&gt; 28;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         -&gt; 30;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 = switch (status)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"NEW"    -&gt; "Created";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"ACTIVE" -&gt; "Running";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     -&gt; "Unknown";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yield for block arm (Java 13)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desc = switch (code)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200 -&gt; "OK";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 -&gt;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log("code: " + code);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"Unknown";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Questions  (5 Questions)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43584"/>
            <a:ext cx="8631936" cy="292608"/>
          </a:xfrm>
          <a:prstGeom prst="rect">
            <a:avLst/>
          </a:prstGeom>
          <a:solidFill>
            <a:srgbClr val="FEF9C3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243584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all questions below, then check the next slide for answers and explanations.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256032" y="164592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58368" y="1609344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advantage of arrow (-&gt;) syntax in switch expressions?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658368" y="1975104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It is faster at runtime    B) It prevents fall-through — no break needed    C) It allows switch in lambdas    D) It supports null cases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256032" y="2340864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658368" y="2304288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made switch expressions a standard (non-preview) feature?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658368" y="2670048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Java 12    B) Java 13    C) Java 14    D) Java 15</a:t>
            </a:r>
            <a:endParaRPr lang="en-US" sz="85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58368" y="2999232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yield keyword in switch expressions?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658368" y="3364992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Suspends the current thread    B) Returns a value from a multi-statement block arm    C) Same as break — exits the switch    D) Declares the return type</a:t>
            </a:r>
            <a:endParaRPr lang="en-US" sz="850"/>
          </a:p>
        </p:txBody>
      </p:sp>
      <p:sp>
        <p:nvSpPr>
          <p:cNvPr id="24" name="Shape 22"/>
          <p:cNvSpPr/>
          <p:nvPr/>
        </p:nvSpPr>
        <p:spPr>
          <a:xfrm>
            <a:off x="256032" y="3730752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37307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58368" y="3694176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658368" y="4059936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31    B) 28    C) 30    D) -1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4425696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25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658368" y="4389120"/>
            <a:ext cx="8156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switch expression a compile error?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658368" y="4754880"/>
            <a:ext cx="8156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A) String is not a valid switch type    B) Arrow cases cannot produce strings    C) The switch is not exhaustive — default is missing    D) yield is required for string values</a:t>
            </a:r>
            <a:endParaRPr lang="en-US" sz="85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main advantage of arrow (-&gt;) syntax in switch expressions?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faster at runtime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prevents fall-through — no break needed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allows switch in lambdas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null cases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1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What is the main advantage of arrow (-&gt;) syntax in switch expressions?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 is faster at runtime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prevents fall-through — no break needed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allows switch in lambdas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supports null cases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It prevents fall-through — no break needed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are self-contained — they cannot fall through to the next case. This eliminates the most common switch bug.</a:t>
            </a:r>
            <a:endParaRPr lang="en-US" sz="90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Java version made switch expressions a standard (non-preview) feature?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13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15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2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Java version made switch expressions a standard (non-preview) feature?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Java 12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Java 13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Java 14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Java 15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Java 14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Previewed in Java 12 (JEP 325), updated in Java 13 (JEP 354 added yield), standardised in Java 14 (JEP 361).</a:t>
            </a:r>
            <a:endParaRPr lang="en-US" sz="90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purpose of the yield keyword in switch expressions?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31520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Suspends the current thread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71907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71907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102352" y="175564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value from a multi-statement block arm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31520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break — exits the switch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32257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32257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102352" y="23591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the return type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303580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03580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3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What is the purpose of the yield keyword in switch expressions?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731520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Suspends the current thread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26864" y="1682496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68249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5102352" y="17190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Returns a value from a multi-statement block arm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256032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731520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Same as break — exits the switch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4626864" y="228600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8600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102352" y="232257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Declares the return type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256032" y="2980944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80944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80944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B  —  Returns a value from a multi-statement block arm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256032" y="3383280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383280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419856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420624" y="3602736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added in Java 13 produces a value from a block arm with multiple statements. Arrow arms with a single expression don't need yield.</a:t>
            </a:r>
            <a:endParaRPr lang="en-US" sz="90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179222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month = 9;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 = switch (month) 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1,3,5,7,8,10,12 -&gt; 31;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4,6,9,11        -&gt; 30;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               -&gt; 28;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-1;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System.out.println(days);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362102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62102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6210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3621024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3621024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36210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36576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422452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22452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2245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42611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4224528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4224528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2245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42611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937760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937760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4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What is the output?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1700784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month = 9;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days = switch (month) {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1,3,5,7,8,10,12 -&gt; 31;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4,6,9,11        -&gt; 30;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2               -&gt; 28;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-1;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System.out.println(days);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347472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347472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4747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35112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31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3474720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3474720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3474720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3511296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28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4078224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078224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40782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4114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30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40782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40782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40782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4114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-1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773168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773168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773168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30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5175504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5175504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521208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5394960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 is September, matching case 4,6,9,11, so the expression yields 30.</a:t>
            </a:r>
            <a:endParaRPr lang="en-US" sz="90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Question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Why is this switch expression a compile error?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256032" y="1719072"/>
            <a:ext cx="8631936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73936"/>
            <a:ext cx="841248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 = switch (status) 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"NEW"    -&gt; "Created";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"ACTIVE" -&gt; "Running";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256032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31520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is not a valid switch type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816352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816352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102352" y="2852928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cannot produce strings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31520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is not exhaustive — default is missing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419856"/>
            <a:ext cx="420624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419856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5102352" y="3456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is required for string values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133088"/>
            <a:ext cx="8631936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4133088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revealed on the next slide  →</a:t>
            </a:r>
            <a:endParaRPr lang="en-US" sz="95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 5 of 5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6032" y="1261872"/>
            <a:ext cx="8631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 Why is this switch expression a compile error?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256032" y="1682496"/>
            <a:ext cx="8631936" cy="932688"/>
          </a:xfrm>
          <a:prstGeom prst="rect">
            <a:avLst/>
          </a:prstGeom>
          <a:solidFill>
            <a:srgbClr val="0D1B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28216"/>
            <a:ext cx="841248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label = switch (status) {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"NEW"    -&gt; "Created";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"ACTIVE" -&gt; "Running";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256032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String is not a valid switch type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626864" y="2706624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2706624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102352" y="27432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Arrow cases cannot produce strings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256032" y="3310128"/>
            <a:ext cx="4206240" cy="512064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✔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31520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switch is not exhaustive — default is missing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4626864" y="3310128"/>
            <a:ext cx="4206240" cy="512064"/>
          </a:xfrm>
          <a:prstGeom prst="rect">
            <a:avLst/>
          </a:prstGeom>
          <a:solidFill>
            <a:srgbClr val="FFF1F2"/>
          </a:solidFill>
          <a:ln w="12700">
            <a:solidFill>
              <a:srgbClr val="FECAC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3310128"/>
            <a:ext cx="411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DC2626"/>
                </a:solidFill>
              </a:rPr>
              <a:t>✘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102352" y="3346704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yield is required for string values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256032" y="4005072"/>
            <a:ext cx="8631936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032" y="4005072"/>
            <a:ext cx="914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005072"/>
            <a:ext cx="83576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Answer: C  —  The switch is not exhaustive — default is missing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256032" y="4407408"/>
            <a:ext cx="8631936" cy="47548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407408"/>
            <a:ext cx="91440" cy="4754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443984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Explanation: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420624" y="4626864"/>
            <a:ext cx="8357616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i="1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expression must be exhaustive — the compiler must guarantee a value is always produced. Default arm is required.</a:t>
            </a:r>
            <a:endParaRPr lang="en-US" sz="90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1200"/>
          </a:solidFill>
          <a:ln w="12700">
            <a:solidFill>
              <a:srgbClr val="1A1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2011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🔀  Switch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2148840" y="0"/>
            <a:ext cx="5943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 —  Answers &amp; Explanations</a:t>
            </a:r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0" y="228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 preview → Java 14 standard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0" y="841248"/>
            <a:ext cx="9144000" cy="292608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8412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 with yield keyword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6032" y="1225296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" y="1298448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" y="1298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76656" y="1280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advantage of arrow (-&gt;) syntax in switch expressions?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071616" y="1280160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161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400800" y="12801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prevents fall-through — no break needed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76656" y="1609344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cases are self-contained — they cannot fall through to the next case. This eliminates the most common switch bug.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56032" y="1975104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0896" y="2048256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2048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676656" y="20299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Java version made switch expressions a standard (non-preview) feature?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6071616" y="2029968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2029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400800" y="2029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14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676656" y="2359152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Previewed in Java 12 (JEP 325), updated in Java 13 (JEP 354 added yield), standardised in Java 14 (JEP 361).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56032" y="2724912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" y="2798064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676656" y="27797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purpose of the yield keyword in switch expressions?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6071616" y="2779776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/>
          </a:p>
        </p:txBody>
      </p:sp>
      <p:sp>
        <p:nvSpPr>
          <p:cNvPr id="35" name="Text 33"/>
          <p:cNvSpPr/>
          <p:nvPr/>
        </p:nvSpPr>
        <p:spPr>
          <a:xfrm>
            <a:off x="6400800" y="27797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value from a multi-statement block arm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76656" y="3108960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added in Java 13 produces a value from a block arm with multiple statements. Arrow arms with a single expression don't need yield.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256032" y="3474720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0896" y="3547872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547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676656" y="3529584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output?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071616" y="3529584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352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6400800" y="35295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676656" y="3858768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 is September, matching case 4,6,9,11, so the expression yields 30.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256032" y="4224528"/>
            <a:ext cx="8631936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0896" y="4297680"/>
            <a:ext cx="292608" cy="29260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0896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676656" y="427939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switch expression a compile error?</a:t>
            </a:r>
            <a:endParaRPr lang="en-US" sz="950"/>
          </a:p>
        </p:txBody>
      </p:sp>
      <p:sp>
        <p:nvSpPr>
          <p:cNvPr id="50" name="Shape 48"/>
          <p:cNvSpPr/>
          <p:nvPr/>
        </p:nvSpPr>
        <p:spPr>
          <a:xfrm>
            <a:off x="6071616" y="4279392"/>
            <a:ext cx="2724912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71616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/>
          </a:p>
        </p:txBody>
      </p:sp>
      <p:sp>
        <p:nvSpPr>
          <p:cNvPr id="53" name="Text 51"/>
          <p:cNvSpPr/>
          <p:nvPr/>
        </p:nvSpPr>
        <p:spPr>
          <a:xfrm>
            <a:off x="6400800" y="42793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052E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switch is not exhaustive — default is missing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676656" y="4608576"/>
            <a:ext cx="811987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expression must be exhaustive — the compiler must guarantee a value is always produced. Default arm is required.</a:t>
            </a:r>
            <a:endParaRPr lang="en-US" sz="85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Java 9–14 Features &amp; Quiz</a:t>
            </a:r>
            <a:endParaRPr lang="en-US" sz="240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Introduced  ·  DOs  ·  DON'Ts  ·  Examples  ·  5 Quiz Questions per Topic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201168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1115568"/>
            <a:ext cx="2084832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🔤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201168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201168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10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292608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inference for locals. Compile-time safe. No runtime cost.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2414016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14016" y="1115568"/>
            <a:ext cx="2084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4016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📅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2414016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2414016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2505456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LocalDate, datesUntil(), toEpochSecond(). Replace Date/Calendar.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626864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15568"/>
            <a:ext cx="208483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🔡</a:t>
            </a:r>
            <a:endParaRPr lang="en-US" sz="2600"/>
          </a:p>
        </p:txBody>
      </p:sp>
      <p:sp>
        <p:nvSpPr>
          <p:cNvPr id="19" name="Text 17"/>
          <p:cNvSpPr/>
          <p:nvPr/>
        </p:nvSpPr>
        <p:spPr>
          <a:xfrm>
            <a:off x="4626864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626864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11/13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718304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strip(), isBlank(), repeat(), lines(). Text blocks for multiline.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6839712" y="111556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39712" y="1115568"/>
            <a:ext cx="2084832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9712" y="120700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🌐</a:t>
            </a:r>
            <a:endParaRPr lang="en-US" sz="2600"/>
          </a:p>
        </p:txBody>
      </p:sp>
      <p:sp>
        <p:nvSpPr>
          <p:cNvPr id="25" name="Text 23"/>
          <p:cNvSpPr/>
          <p:nvPr/>
        </p:nvSpPr>
        <p:spPr>
          <a:xfrm>
            <a:off x="6839712" y="168249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6839712" y="195681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931152" y="215798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&amp; async HTTP/2. Replaces HttpURLConnection entirely.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01168" y="303580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035808"/>
            <a:ext cx="208483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312724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🗂️</a:t>
            </a:r>
            <a:endParaRPr lang="en-US" sz="2600"/>
          </a:p>
        </p:txBody>
      </p:sp>
      <p:sp>
        <p:nvSpPr>
          <p:cNvPr id="31" name="Text 29"/>
          <p:cNvSpPr/>
          <p:nvPr/>
        </p:nvSpPr>
        <p:spPr>
          <a:xfrm>
            <a:off x="201168" y="360273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201168" y="387705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9/10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292608" y="407822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List.of(), Set.of(), Map.of(). Immutable one-liners.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2414016" y="303580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14016" y="3035808"/>
            <a:ext cx="2084832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14016" y="312724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⚙️</a:t>
            </a:r>
            <a:endParaRPr lang="en-US" sz="2600"/>
          </a:p>
        </p:txBody>
      </p:sp>
      <p:sp>
        <p:nvSpPr>
          <p:cNvPr id="37" name="Text 35"/>
          <p:cNvSpPr/>
          <p:nvPr/>
        </p:nvSpPr>
        <p:spPr>
          <a:xfrm>
            <a:off x="2414016" y="360273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2414016" y="387705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9/11</a:t>
            </a:r>
            <a:endParaRPr lang="en-US" sz="1000"/>
          </a:p>
        </p:txBody>
      </p:sp>
      <p:sp>
        <p:nvSpPr>
          <p:cNvPr id="39" name="Text 37"/>
          <p:cNvSpPr/>
          <p:nvPr/>
        </p:nvSpPr>
        <p:spPr>
          <a:xfrm>
            <a:off x="2505456" y="407822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orTimeout(), completeOnTimeout(), onSpinWait().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626864" y="3035808"/>
            <a:ext cx="2084832" cy="17190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26864" y="3035808"/>
            <a:ext cx="2084832" cy="54864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26864" y="3127248"/>
            <a:ext cx="20848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🔀</a:t>
            </a:r>
            <a:endParaRPr lang="en-US" sz="2600"/>
          </a:p>
        </p:txBody>
      </p:sp>
      <p:sp>
        <p:nvSpPr>
          <p:cNvPr id="43" name="Text 41"/>
          <p:cNvSpPr/>
          <p:nvPr/>
        </p:nvSpPr>
        <p:spPr>
          <a:xfrm>
            <a:off x="4626864" y="360273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300"/>
          </a:p>
        </p:txBody>
      </p:sp>
      <p:sp>
        <p:nvSpPr>
          <p:cNvPr id="44" name="Text 42"/>
          <p:cNvSpPr/>
          <p:nvPr/>
        </p:nvSpPr>
        <p:spPr>
          <a:xfrm>
            <a:off x="4626864" y="3877056"/>
            <a:ext cx="20848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12–14</a:t>
            </a:r>
            <a:endParaRPr lang="en-US" sz="1000"/>
          </a:p>
        </p:txBody>
      </p:sp>
      <p:sp>
        <p:nvSpPr>
          <p:cNvPr id="45" name="Text 43"/>
          <p:cNvSpPr/>
          <p:nvPr/>
        </p:nvSpPr>
        <p:spPr>
          <a:xfrm>
            <a:off x="4718304" y="4078224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syntax, no fall-through, expression form, yield.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121</Slides>
  <Notes>121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9–14 Features &amp; Quiz</dc:title>
  <dc:subject>PptxGenJS Presentation</dc:subject>
  <dc:creator>PptxGenJS</dc:creator>
  <cp:revision>3</cp:revision>
  <dcterms:created xsi:type="dcterms:W3CDTF">2026-05-25T12:38:58Z</dcterms:created>
  <dcterms:modified xsi:type="dcterms:W3CDTF">2026-05-25T19:01:03Z</dcterms:modified>
</cp:coreProperties>
</file>